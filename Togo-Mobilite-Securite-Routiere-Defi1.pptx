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59536" cy="859536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FFC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90349"/>
            <a:ext cx="694944" cy="610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5336" y="420624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MINISTÈRE DE L'EFFICACITÉ DU SERVICE PUBLIC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ET DE LA TRANSFORMATION NUMÉRIQUE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4830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CE588"/>
                </a:solidFill>
                <a:latin typeface="Cambria"/>
              </a:rPr>
              <a:t>Mobilité et sécurité routière au Togo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859536"/>
            <a:ext cx="4830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E2F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Mobilité et sécurité routière au Togo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66543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E2FB"/>
                </a:solidFill>
                <a:latin typeface="Calibri"/>
              </a:rPr>
              <a:t>Où agir en priorité pour une mobilité plus sûre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2645587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06253" y="2679191"/>
            <a:ext cx="777662" cy="201168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En hausse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97479"/>
            <a:ext cx="146558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366B"/>
                </a:solidFill>
                <a:latin typeface="Calibri"/>
              </a:rPr>
              <a:t>MOBILITÉ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26079"/>
            <a:ext cx="2316403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5894"/>
                </a:solidFill>
                <a:latin typeface="Cambria"/>
              </a:rPr>
              <a:t>88 198</a:t>
            </a:r>
            <a:r>
              <a:rPr sz="1200" b="1" i="0">
                <a:solidFill>
                  <a:srgbClr val="1B5894"/>
                </a:solidFill>
                <a:latin typeface="Calibri"/>
              </a:rPr>
              <a:t> véhicules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64991"/>
            <a:ext cx="2316403" cy="1783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immatriculés dans l’année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589019"/>
            <a:ext cx="2316403" cy="4526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155"/>
                </a:solidFill>
                <a:latin typeface="Calibri"/>
              </a:rPr>
              <a:t>× 4,56 entre 2002 et 2022 ; 74,4 % de motos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9675" y="2560320"/>
            <a:ext cx="2645587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27022" y="2679191"/>
            <a:ext cx="1003649" cy="201168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0D366B"/>
                </a:solidFill>
                <a:latin typeface="Calibri"/>
              </a:rPr>
              <a:t>Taux en baisse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267" y="2697479"/>
            <a:ext cx="123960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366B"/>
                </a:solidFill>
                <a:latin typeface="Calibri"/>
              </a:rPr>
              <a:t>SÉCURITÉ ROUTIÈRE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4267" y="2926079"/>
            <a:ext cx="2316403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A1C1B"/>
                </a:solidFill>
                <a:latin typeface="Cambria"/>
              </a:rPr>
              <a:t>683</a:t>
            </a:r>
            <a:r>
              <a:rPr sz="1200" b="1" i="0">
                <a:solidFill>
                  <a:srgbClr val="8A1C1B"/>
                </a:solidFill>
                <a:latin typeface="Calibri"/>
              </a:rPr>
              <a:t> tués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267" y="3364991"/>
            <a:ext cx="2316403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déclarés en 2022, pour 7 507 accidents constatés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4267" y="3749039"/>
            <a:ext cx="2316403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155"/>
                </a:solidFill>
                <a:latin typeface="Calibri"/>
              </a:rPr>
              <a:t>volume en hausse, mais les 6 taux de risque baissent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2560320"/>
            <a:ext cx="2645587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27775" y="2679191"/>
            <a:ext cx="549652" cy="201168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Inégal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2697479"/>
            <a:ext cx="169359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366B"/>
                </a:solidFill>
                <a:latin typeface="Calibri"/>
              </a:rPr>
              <a:t>RÉSEAU (RELEVÉ DE 2020)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1023" y="2926079"/>
            <a:ext cx="2316403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A5A00"/>
                </a:solidFill>
                <a:latin typeface="Cambria"/>
              </a:rPr>
              <a:t>21,2 %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1023" y="3364991"/>
            <a:ext cx="2316403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des kilomètres évalués en mauvais état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3749039"/>
            <a:ext cx="2316403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155"/>
                </a:solidFill>
                <a:latin typeface="Calibri"/>
              </a:rPr>
              <a:t>669,34 km sur 3 163 ; 49 tronçons critiques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187" y="2560320"/>
            <a:ext cx="2645587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08512" y="2679191"/>
            <a:ext cx="615670" cy="201168"/>
          </a:xfrm>
          <a:prstGeom prst="roundRect">
            <a:avLst>
              <a:gd name="adj" fmla="val 50000"/>
            </a:avLst>
          </a:prstGeom>
          <a:solidFill>
            <a:srgbClr val="FB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8A1C1B"/>
                </a:solidFill>
                <a:latin typeface="Calibri"/>
              </a:rPr>
              <a:t>Priorité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7779" y="2697479"/>
            <a:ext cx="162758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366B"/>
                </a:solidFill>
                <a:latin typeface="Calibri"/>
              </a:rPr>
              <a:t>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7779" y="2926079"/>
            <a:ext cx="2316403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6B3C"/>
                </a:solidFill>
                <a:latin typeface="Cambria"/>
              </a:rPr>
              <a:t>23 sur 39</a:t>
            </a:r>
            <a:r>
              <a:rPr sz="1200" b="1" i="0">
                <a:solidFill>
                  <a:srgbClr val="0F6B3C"/>
                </a:solidFill>
                <a:latin typeface="Calibri"/>
              </a:rPr>
              <a:t> préfectures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7779" y="3364991"/>
            <a:ext cx="2316403" cy="1783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sans aucune auto-école agréée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7779" y="3589019"/>
            <a:ext cx="2316403" cy="4526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155"/>
                </a:solidFill>
                <a:latin typeface="Calibri"/>
              </a:rPr>
              <a:t>2 932 492 habitants ; 132 agréées sur 272 recensées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2452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4279392"/>
            <a:ext cx="1071036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CONSTAT  ·  </a:t>
            </a:r>
            <a:r>
              <a:rPr sz="1150" b="1" i="0">
                <a:solidFill>
                  <a:srgbClr val="172B3A"/>
                </a:solidFill>
                <a:latin typeface="Calibri"/>
              </a:rPr>
              <a:t>Plus de véhicules, pas une route plus dangereuse : </a:t>
            </a:r>
            <a:r>
              <a:rPr sz="1150" b="0" i="0">
                <a:solidFill>
                  <a:srgbClr val="172B3A"/>
                </a:solidFill>
                <a:latin typeface="Calibri"/>
              </a:rPr>
              <a:t>le volume des accidents monte de 9,4 % entre 2010–2012 et 2022–2024, mais les 6 taux de risque baissent de 14,3 % à 40,4 %. Le manque est rural : réseau dégradé et formation absente.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901184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4956048"/>
            <a:ext cx="1071036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4700"/>
                </a:solidFill>
                <a:latin typeface="Calibri"/>
              </a:rPr>
              <a:t>DANS L’ANNÉE  ·  </a:t>
            </a:r>
            <a:r>
              <a:rPr sz="1150" b="0" i="0">
                <a:solidFill>
                  <a:srgbClr val="172B3A"/>
                </a:solidFill>
                <a:latin typeface="Calibri"/>
              </a:rPr>
              <a:t>créer la base d’accidents par préfecture — 7 questions restent sans réponse faute de ces données — et vérifier sur place l’état du réseau relevé en 2020 avant d’engager les travaux.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69280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CE588"/>
                </a:solidFill>
                <a:latin typeface="Calibri"/>
              </a:rPr>
              <a:t>PRÉSENTÉ PAR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88736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Addi Carters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669280"/>
            <a:ext cx="69338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CE588"/>
                </a:solidFill>
                <a:latin typeface="Calibri"/>
              </a:rPr>
              <a:t>LIVRABLES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888736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E2FB"/>
                </a:solidFill>
                <a:latin typeface="Calibri"/>
              </a:rPr>
              <a:t>Tableau de bord interactif en 8 pages, et ce rapport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2C6"/>
                </a:solidFill>
                <a:latin typeface="Calibri"/>
              </a:rPr>
              <a:t>Togo AI Lab — Data Challenge | Mobilité et sécurité routière — Défi 1  ·  Armoiries du Togo : Edem Fiadjoe, CC BY-SA 4.0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5575" y="644652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2C6"/>
                </a:solidFill>
                <a:latin typeface="Calibri"/>
              </a:rPr>
              <a:t>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01 · CADRAGE ET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Comment ces résultats ont-ils été produits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85855" cy="548640"/>
          </a:xfrm>
          <a:prstGeom prst="roundRect">
            <a:avLst>
              <a:gd name="adj" fmla="val 16666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517904"/>
            <a:ext cx="10710367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CE588"/>
                </a:solidFill>
                <a:latin typeface="Calibri"/>
              </a:rPr>
              <a:t>QUESTION PUBLIQUE  ·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Où agir en priorité pour une mobilité plus sûre : quel territoire, quel manque, pour combien d’habitants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LA CHAÎNE DE TRAITEMENT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2549575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26151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587752"/>
            <a:ext cx="18363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66B"/>
                </a:solidFill>
                <a:latin typeface="Cambria"/>
              </a:rPr>
              <a:t>Données publiques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2220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immatriculations et permis depuis 1990, accidents, réseau routier, auto-écoles, recensement de 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0783" y="2798064"/>
            <a:ext cx="2926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B6AD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1679" y="2468880"/>
            <a:ext cx="2549575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6271" y="26151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8607" y="2587752"/>
            <a:ext cx="18363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66B"/>
                </a:solidFill>
                <a:latin typeface="Cambria"/>
              </a:rPr>
              <a:t>Diagnostic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980944"/>
            <a:ext cx="2220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les 5 objectifs de l’énoncé, 17 vérifications et hypothèses, lus dans 39 préfectures, 6 zones et 5 régions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9543" y="2798064"/>
            <a:ext cx="2926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B6AD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0439" y="2468880"/>
            <a:ext cx="2549575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5031" y="26151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2587752"/>
            <a:ext cx="18363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66B"/>
                </a:solidFill>
                <a:latin typeface="Cambria"/>
              </a:rPr>
              <a:t>Priorisation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2980944"/>
            <a:ext cx="2220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un classement des 38 préfectures évaluables, sur deux dimensions, puis la nature du manque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8303" y="2798064"/>
            <a:ext cx="2926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B6AD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9199" y="2468880"/>
            <a:ext cx="2549575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03791" y="26151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6127" y="2587752"/>
            <a:ext cx="18363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66B"/>
                </a:solidFill>
                <a:latin typeface="Cambria"/>
              </a:rPr>
              <a:t>Recommandations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3791" y="2980944"/>
            <a:ext cx="22203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15 actions, chacune avec son territoire, sa cible chiffrée, ses habitants et son horizon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712464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DEUX DIMENSIONS POUR CLASSER LES 38 PRÉFECTURES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86783"/>
            <a:ext cx="54740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3986783"/>
            <a:ext cx="64008" cy="786384"/>
          </a:xfrm>
          <a:prstGeom prst="roundRect">
            <a:avLst>
              <a:gd name="adj" fmla="val 42857"/>
            </a:avLst>
          </a:prstGeom>
          <a:solidFill>
            <a:srgbClr val="E6B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4078224"/>
            <a:ext cx="50534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5A00"/>
                </a:solidFill>
                <a:latin typeface="Cambria"/>
              </a:rPr>
              <a:t>État du réseau routier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4370832"/>
            <a:ext cx="50534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part des kilomètres évalués en mauvais état ; cible : 14,35 %, la médiane nationale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4719" y="3986783"/>
            <a:ext cx="54740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4719" y="3986783"/>
            <a:ext cx="64008" cy="786384"/>
          </a:xfrm>
          <a:prstGeom prst="roundRect">
            <a:avLst>
              <a:gd name="adj" fmla="val 42857"/>
            </a:avLst>
          </a:prstGeom>
          <a:solidFill>
            <a:srgbClr val="168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2463" y="4078224"/>
            <a:ext cx="50534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6B3C"/>
                </a:solidFill>
                <a:latin typeface="Cambria"/>
              </a:rPr>
              <a:t>Offre de 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2463" y="4370832"/>
            <a:ext cx="50534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auto-écoles agréées pour 100 000 habitants ; cible : 1,065, la médiane des préfectures équipées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919472"/>
            <a:ext cx="11185855" cy="676656"/>
          </a:xfrm>
          <a:prstGeom prst="roundRect">
            <a:avLst>
              <a:gd name="adj" fmla="val 16216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029200"/>
            <a:ext cx="1078351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700"/>
                </a:solidFill>
                <a:latin typeface="Calibri"/>
              </a:rPr>
              <a:t>À retenir : </a:t>
            </a:r>
            <a:r>
              <a:rPr sz="1100" b="1" i="0">
                <a:solidFill>
                  <a:srgbClr val="172B3A"/>
                </a:solidFill>
                <a:latin typeface="Calibri"/>
              </a:rPr>
              <a:t>le classement mesure l’intensité du manque, pas le risque d’accident — les accidents ne sont publiés qu’au niveau national. L’état du réseau vient d’un relevé de </a:t>
            </a:r>
            <a:r>
              <a:rPr sz="1100" b="1" i="0">
                <a:solidFill>
                  <a:srgbClr val="0D366B"/>
                </a:solidFill>
                <a:latin typeface="Calibri"/>
              </a:rPr>
              <a:t>2020</a:t>
            </a:r>
            <a:r>
              <a:rPr sz="1100" b="1" i="0">
                <a:solidFill>
                  <a:srgbClr val="172B3A"/>
                </a:solidFill>
                <a:latin typeface="Calibri"/>
              </a:rPr>
              <a:t> dont la méthode de notation n’est pas publiée : c’est une estimation, à vérifier sur place avant tout investissement.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02 · OBJECTIF 1 — MOBILITÉ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3A"/>
                </a:solidFill>
                <a:latin typeface="Cambria"/>
              </a:rPr>
              <a:t>Le parc immatriculé a plus que quadruplé en vingt ans, porté par les motos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5894"/>
                </a:solidFill>
                <a:latin typeface="Cambria"/>
              </a:rPr>
              <a:t>× 4,56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d’immatriculations annuelles entre 2002 et 2022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9675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4267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834A"/>
                </a:solidFill>
                <a:latin typeface="Cambria"/>
              </a:rPr>
              <a:t>74,4 %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267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de motos en 2024 : 65 593 sur 88 198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834A"/>
                </a:solidFill>
                <a:latin typeface="Cambria"/>
              </a:rPr>
              <a:t>80,6 %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de la hausse de 2002 à 2022 vient des motos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7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7779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366B"/>
                </a:solidFill>
                <a:latin typeface="Cambria"/>
              </a:rPr>
              <a:t>38 531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779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permis délivrés en 2024, dont 10 165 permis moto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487168"/>
            <a:ext cx="7589520" cy="2487168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615184"/>
            <a:ext cx="718718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Immatriculations et permis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871216"/>
            <a:ext cx="7187184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Immatriculations de l’année, 1990–2024 ; permis délivrés en 2024. Niveau : mesuré.</a:t>
            </a:r>
          </a:p>
        </p:txBody>
      </p:sp>
      <p:pic>
        <p:nvPicPr>
          <p:cNvPr id="23" name="Picture 22" descr="mobi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46" y="3081528"/>
            <a:ext cx="6250866" cy="176479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321040" y="2487168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2596896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Constat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en cumul sur 2007–2024, </a:t>
            </a:r>
            <a:r>
              <a:rPr sz="1050" b="1" i="0">
                <a:solidFill>
                  <a:srgbClr val="16834A"/>
                </a:solidFill>
                <a:latin typeface="Calibri"/>
              </a:rPr>
              <a:t>40 motos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ont été immatriculées pour un permis moto délivré, contre </a:t>
            </a:r>
            <a:r>
              <a:rPr sz="1050" b="1" i="0">
                <a:solidFill>
                  <a:srgbClr val="2474C6"/>
                </a:solidFill>
                <a:latin typeface="Calibri"/>
              </a:rPr>
              <a:t>1,3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pour les voitures. Le permis moto a bondi : </a:t>
            </a:r>
            <a:r>
              <a:rPr sz="1050" b="1" i="0">
                <a:solidFill>
                  <a:srgbClr val="16834A"/>
                </a:solidFill>
                <a:latin typeface="Calibri"/>
              </a:rPr>
              <a:t>10 165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en 2024, contre 1 538 en 2023.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85616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FDF0D2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895344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4700"/>
                </a:solidFill>
                <a:latin typeface="Calibri"/>
              </a:rPr>
              <a:t>Enjeu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la formation doit cibler d’abord le permis moto : c’est la catégorie où l’écart entre véhicules immatriculés et conducteurs formés est le plus large, et celle qui porte la hausse du parc.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3892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193792"/>
            <a:ext cx="1071036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SYNTHÈSE CHIFFRÉE  ·  </a:t>
            </a:r>
            <a:r>
              <a:rPr sz="1150" b="0" i="0">
                <a:solidFill>
                  <a:srgbClr val="172B3A"/>
                </a:solidFill>
                <a:latin typeface="Calibri"/>
              </a:rPr>
              <a:t>88 198 véhicules immatriculés en 2024, dont 74,4 % de motos · × 4,56 en vingt ans · 38 531 permis délivrés en 2024, de 6 catégories.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7647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83519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4700"/>
                </a:solidFill>
                <a:latin typeface="Calibri"/>
              </a:rPr>
              <a:t>Limite  ·  </a:t>
            </a:r>
            <a:r>
              <a:rPr sz="1050" b="0" i="0">
                <a:solidFill>
                  <a:srgbClr val="172B3A"/>
                </a:solidFill>
                <a:latin typeface="Calibri"/>
              </a:rPr>
              <a:t>ce sont les immatriculations de l’année, pas le parc en circulation, qui n’est pas publié. Les séries connaissent deux ruptures, en 1995 et en 2004 : le multiplicateur est daté. Les permis ne sont publiés ni par territoire, ni par âge.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03 · OBJECTIF 2 — SÉCURITÉ ROUTIÈRE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Plus de véhicules, pas une route plus dangereuse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518"/>
                </a:solidFill>
                <a:latin typeface="Cambria"/>
              </a:rPr>
              <a:t>+ 9,4 %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d’accidents constatés en volume entre 2010–2012 et 2022–2024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9675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4267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834A"/>
                </a:solidFill>
                <a:latin typeface="Cambria"/>
              </a:rPr>
              <a:t>-40,4 %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267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de tués pour 10 000 véhicules sur les mêmes périodes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E1126"/>
                </a:solidFill>
                <a:latin typeface="Cambria"/>
              </a:rPr>
              <a:t>60 %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des tués de 2021 sont des usagers de deux et trois-roues motorisés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7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7779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366B"/>
                </a:solidFill>
                <a:latin typeface="Cambria"/>
              </a:rPr>
              <a:t>8,62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779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tués déclarés pour 100 000 habitants en 2021, contre 22,7 estimés par l’OMS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487168"/>
            <a:ext cx="7589520" cy="2487168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615184"/>
            <a:ext cx="718718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Le risque routier, rapporté à la population et aux véhicules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871216"/>
            <a:ext cx="7187184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Accidents constatés, blessés et tués déclarés : volume, pour 100 000 habitants et pour 10 000 véhicules. Niveau : estimé pour les taux.</a:t>
            </a:r>
          </a:p>
        </p:txBody>
      </p:sp>
      <p:pic>
        <p:nvPicPr>
          <p:cNvPr id="23" name="Picture 22" descr="secur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118854"/>
            <a:ext cx="7333488" cy="169013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321040" y="2487168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2596896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Constat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les 6 taux de risque baissent, de </a:t>
            </a:r>
            <a:r>
              <a:rPr sz="1050" b="1" i="0">
                <a:solidFill>
                  <a:srgbClr val="16834A"/>
                </a:solidFill>
                <a:latin typeface="Calibri"/>
              </a:rPr>
              <a:t>14,3 %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à </a:t>
            </a:r>
            <a:r>
              <a:rPr sz="1050" b="1" i="0">
                <a:solidFill>
                  <a:srgbClr val="16834A"/>
                </a:solidFill>
                <a:latin typeface="Calibri"/>
              </a:rPr>
              <a:t>40,4 %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. Les tués pour 100 000 habitants passent de 10,45 à 7,38. La hausse du volume vient de l’exposition, pas d’une route devenue plus dangereuse.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85616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FDF0D2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895344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4700"/>
                </a:solidFill>
                <a:latin typeface="Calibri"/>
              </a:rPr>
              <a:t>Enjeu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les deux-roues motorisés font 60 % des tués, un peu plus que leur part du parc estimé : casque, permis moto et contrôle sont les leviers nationaux.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3892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193792"/>
            <a:ext cx="1071036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SYNTHÈSE CHIFFRÉE  ·  </a:t>
            </a:r>
            <a:r>
              <a:rPr sz="1150" b="0" i="0">
                <a:solidFill>
                  <a:srgbClr val="172B3A"/>
                </a:solidFill>
                <a:latin typeface="Calibri"/>
              </a:rPr>
              <a:t>7 507 accidents constatés, 9 918 blessés et 683 tués déclarés en 2022 · 6 taux de risque sur 6 en baisse · 60 % des tués de 2021 sont des usagers de deux et trois-roues motorisés.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7647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83519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4700"/>
                </a:solidFill>
                <a:latin typeface="Calibri"/>
              </a:rPr>
              <a:t>Limite  ·  </a:t>
            </a:r>
            <a:r>
              <a:rPr sz="1050" b="0" i="0">
                <a:solidFill>
                  <a:srgbClr val="172B3A"/>
                </a:solidFill>
                <a:latin typeface="Calibri"/>
              </a:rPr>
              <a:t>ce sont des accidents déclarés par la police et la gendarmerie, publiés pour tout le pays seulement : ni préfecture, ni mois, ni âge. Les taux par véhicule dépendent d’un parc estimé. Une baisse des déclarations ressemblerait à un progrès.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04 · OBJECTIF 3 — RÉSEAU ROUTIER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B3A"/>
                </a:solidFill>
                <a:latin typeface="Cambria"/>
              </a:rPr>
              <a:t>Un réseau inégalement entretenu : 21,2 % des kilomètres évalués en mauvais état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366B"/>
                </a:solidFill>
                <a:latin typeface="Cambria"/>
              </a:rPr>
              <a:t>3 163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évalués sur 84 tronçons, relevé de 2020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9675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4267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E1126"/>
                </a:solidFill>
                <a:latin typeface="Cambria"/>
              </a:rPr>
              <a:t>21,2 %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267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en mauvais état, soit 669,34 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A5A00"/>
                </a:solidFill>
                <a:latin typeface="Cambria"/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tronçons critiques, qui portent au moins un kilomètre en mauvais état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7" y="1463040"/>
            <a:ext cx="2645587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7779" y="1572768"/>
            <a:ext cx="231640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A3AA7"/>
                </a:solidFill>
                <a:latin typeface="Cambria"/>
              </a:rPr>
              <a:t>32,6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779" y="1975104"/>
            <a:ext cx="23164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d’écart entre la Centrale et le Grand Lomé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487168"/>
            <a:ext cx="7589520" cy="2487168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615184"/>
            <a:ext cx="718718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L’état du réseau relevé, zone par 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871216"/>
            <a:ext cx="7187184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Kilomètres relevés en 2020, par état ; en rouge, la part en mauvais état. Niveau : estimé — méthode de notation non publiée.</a:t>
            </a:r>
          </a:p>
        </p:txBody>
      </p:sp>
      <p:pic>
        <p:nvPicPr>
          <p:cNvPr id="23" name="Picture 22" descr="res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61" y="3081528"/>
            <a:ext cx="6166037" cy="176479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321040" y="2487168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2596896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Constat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la </a:t>
            </a:r>
            <a:r>
              <a:rPr sz="1050" b="1" i="0">
                <a:solidFill>
                  <a:srgbClr val="4A3AA7"/>
                </a:solidFill>
                <a:latin typeface="Calibri"/>
              </a:rPr>
              <a:t>Centrale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a 40,3 % de ses kilomètres évalués en mauvais état, le </a:t>
            </a:r>
            <a:r>
              <a:rPr sz="1050" b="1" i="0">
                <a:solidFill>
                  <a:srgbClr val="256ABF"/>
                </a:solidFill>
                <a:latin typeface="Calibri"/>
              </a:rPr>
              <a:t>Grand Lomé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7,7 %. L’entretien se cible par territoire ; la vérification, elle, se fait tronçon par tronçon.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85616"/>
            <a:ext cx="3367735" cy="1188720"/>
          </a:xfrm>
          <a:prstGeom prst="roundRect">
            <a:avLst>
              <a:gd name="adj" fmla="val 9230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895344"/>
            <a:ext cx="2965399" cy="9692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4700"/>
                </a:solidFill>
                <a:latin typeface="Calibri"/>
              </a:rPr>
              <a:t>Réserve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une autre publication de 2020 donne 29,75 % des routes nationales en mauvais état, contre 21,2 % au relevé. Aucune des deux ne concorde : les deux sont citées, jamais mêlées.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3892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193792"/>
            <a:ext cx="1071036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SYNTHÈSE CHIFFRÉE  ·  </a:t>
            </a:r>
            <a:r>
              <a:rPr sz="1150" b="0" i="0">
                <a:solidFill>
                  <a:srgbClr val="172B3A"/>
                </a:solidFill>
                <a:latin typeface="Calibri"/>
              </a:rPr>
              <a:t>3 163 km évalués sur 84 tronçons · 669,34 km en mauvais état (21,2 %) · 49 tronçons critiques · 13 préfectures au-delà du seuil, 2 868 523 habitants · 304,6 km à remettre en état pour atteindre la médiane.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7647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83519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4700"/>
                </a:solidFill>
                <a:latin typeface="Calibri"/>
              </a:rPr>
              <a:t>Limite  ·  </a:t>
            </a:r>
            <a:r>
              <a:rPr sz="1050" b="0" i="0">
                <a:solidFill>
                  <a:srgbClr val="172B3A"/>
                </a:solidFill>
                <a:latin typeface="Calibri"/>
              </a:rPr>
              <a:t>Mô n’a aucune route classée : sa part en mauvais état n’est pas définie, elle n’est pas nulle. 3,2 % du réseau tracé n’a pas d’état relevé. Aucune donnée ne mesure l’usure depuis 2020.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05 · OBJECTIF 4 — COUVERTURE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La formation des conducteurs s’arrête aux villes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97480" cy="3986784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229514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Les auto-écoles agréées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22951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Auto-écoles agréées pour 100 000 habitants, 2022. Niveau : estimé.</a:t>
            </a:r>
          </a:p>
        </p:txBody>
      </p:sp>
      <p:pic>
        <p:nvPicPr>
          <p:cNvPr id="11" name="Picture 10" descr="carte_fo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215532"/>
            <a:ext cx="2478024" cy="3103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29000" y="1463040"/>
            <a:ext cx="263133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572768"/>
            <a:ext cx="230215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6B3C"/>
                </a:solidFill>
                <a:latin typeface="Cambria"/>
              </a:rPr>
              <a:t>132 / 272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75104"/>
            <a:ext cx="230215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auto-écoles agréées sur les auto-écoles recensées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3218" y="1463040"/>
            <a:ext cx="263133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7810" y="1572768"/>
            <a:ext cx="230215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A1C1B"/>
                </a:solidFill>
                <a:latin typeface="Cambria"/>
              </a:rPr>
              <a:t>23 sur 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7810" y="1975104"/>
            <a:ext cx="230215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préfectures sans auto-école agréée · 2 932 492 habitants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7436" y="1463040"/>
            <a:ext cx="263133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2028" y="1572768"/>
            <a:ext cx="230215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366B"/>
                </a:solidFill>
                <a:latin typeface="Cambria"/>
              </a:rPr>
              <a:t>84,8 %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2028" y="1975104"/>
            <a:ext cx="230215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des auto-écoles agréées dans 4 préfectures urbaines, qui comptent 32,3 % de la population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651760"/>
            <a:ext cx="825977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TROIS MANQUES, TROIS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889504"/>
            <a:ext cx="8259775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2889504"/>
            <a:ext cx="64008" cy="640080"/>
          </a:xfrm>
          <a:prstGeom prst="roundRect">
            <a:avLst>
              <a:gd name="adj" fmla="val 42857"/>
            </a:avLst>
          </a:prstGeom>
          <a:solidFill>
            <a:srgbClr val="8A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8456" y="2962656"/>
            <a:ext cx="615665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A"/>
                </a:solidFill>
                <a:latin typeface="Calibri"/>
              </a:rPr>
              <a:t>15 préfectures sans aucune auto-école, même non agréée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456" y="3273552"/>
            <a:ext cx="61566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1 822 046 habitants · 25 auto-écoles à ouvrir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87032" y="3081528"/>
            <a:ext cx="618863" cy="256032"/>
          </a:xfrm>
          <a:prstGeom prst="roundRect">
            <a:avLst>
              <a:gd name="adj" fmla="val 50000"/>
            </a:avLst>
          </a:prstGeom>
          <a:solidFill>
            <a:srgbClr val="FB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8A1C1B"/>
                </a:solidFill>
                <a:latin typeface="Calibri"/>
              </a:rPr>
              <a:t>Ouvrir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593592"/>
            <a:ext cx="8259775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9000" y="3593592"/>
            <a:ext cx="64008" cy="640080"/>
          </a:xfrm>
          <a:prstGeom prst="roundRect">
            <a:avLst>
              <a:gd name="adj" fmla="val 42857"/>
            </a:avLst>
          </a:prstGeom>
          <a:solidFill>
            <a:srgbClr val="6B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3666744"/>
            <a:ext cx="615665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A"/>
                </a:solidFill>
                <a:latin typeface="Calibri"/>
              </a:rPr>
              <a:t>8 préfectures où les auto-écoles recensées ne sont pas agréées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456" y="3977640"/>
            <a:ext cx="61566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1 110 446 habitants · 13 auto-écoles à vérifier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30477" y="3785616"/>
            <a:ext cx="675417" cy="256032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6B4700"/>
                </a:solidFill>
                <a:latin typeface="Calibri"/>
              </a:rPr>
              <a:t>Vérifier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297680"/>
            <a:ext cx="8259775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9000" y="429768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4370832"/>
            <a:ext cx="615665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A"/>
                </a:solidFill>
                <a:latin typeface="Calibri"/>
              </a:rPr>
              <a:t>13 préfectures au réseau dégradé, dont 5 qui cumulent les deux manques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8456" y="4681728"/>
            <a:ext cx="61566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Calibri"/>
              </a:rPr>
              <a:t>2 868 523 habitants · 304,6 km à remettre en état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73046" y="4489704"/>
            <a:ext cx="1232848" cy="256032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0D366B"/>
                </a:solidFill>
                <a:latin typeface="Calibri"/>
              </a:rPr>
              <a:t>Remettre en état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5020056"/>
            <a:ext cx="8259775" cy="475488"/>
          </a:xfrm>
          <a:prstGeom prst="roundRect">
            <a:avLst>
              <a:gd name="adj" fmla="val 1923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66744" y="5074920"/>
            <a:ext cx="7784287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CE588"/>
                </a:solidFill>
                <a:latin typeface="Calibri"/>
              </a:rPr>
              <a:t>LE TRAIT COMMUN  ·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la distance : 26 préfectures ont leur chef-lieu à plus de 10 km de la première auto-école agréée, et 17,2 % seulement des ruraux vivent à moins de 2 km d’une route revêtue.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96128"/>
            <a:ext cx="11185855" cy="658368"/>
          </a:xfrm>
          <a:prstGeom prst="roundRect">
            <a:avLst>
              <a:gd name="adj" fmla="val 16666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705856"/>
            <a:ext cx="10783519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4700"/>
                </a:solidFill>
                <a:latin typeface="Calibri"/>
              </a:rPr>
              <a:t>Limite  ·  </a:t>
            </a:r>
            <a:r>
              <a:rPr sz="1050" b="0" i="0">
                <a:solidFill>
                  <a:srgbClr val="172B3A"/>
                </a:solidFill>
                <a:latin typeface="Calibri"/>
              </a:rPr>
              <a:t>l’activité des auto-écoles n’est pas publiée : une auto-école agréée n’est pas forcément active, et les points recensés sont des lieux, pas des agents. L’accès rural est estimé avec une population répartie uniformément dans chaque préfecture.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06 · OBJECTIF 5 — TERRITOIRES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Où agir en priorité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97480" cy="3986784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229514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Les 39 préfectures par priorité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2295144" cy="4297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Les 10 premières du classement sont numérotées ; cerclées en rouge, celles qui cumulent les deux manques.</a:t>
            </a:r>
          </a:p>
        </p:txBody>
      </p:sp>
      <p:pic>
        <p:nvPicPr>
          <p:cNvPr id="11" name="Picture 10" descr="carte_prior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" y="2331720"/>
            <a:ext cx="2406700" cy="3008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29000" y="1463040"/>
            <a:ext cx="825977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LES 10 PREMIÈRES PRÉFECTURES · 1 416 859 HABITANTS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700784"/>
            <a:ext cx="8259775" cy="256032"/>
          </a:xfrm>
          <a:prstGeom prst="roundRect">
            <a:avLst>
              <a:gd name="adj" fmla="val 21428"/>
            </a:avLst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700784"/>
            <a:ext cx="405993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Rang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6161" y="1700784"/>
            <a:ext cx="1067104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Préfecture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418" y="1700784"/>
            <a:ext cx="181051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0082" y="1700784"/>
            <a:ext cx="8522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Habitants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1700784"/>
            <a:ext cx="1248156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Mauvais état
(km évalués)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763" y="1700784"/>
            <a:ext cx="8019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Auto-écoles
agréées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1844" y="1700784"/>
            <a:ext cx="156270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Nature du manque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1975104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6161" y="1975104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Danyi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6418" y="1975104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B6300"/>
                </a:solidFill>
                <a:latin typeface="Calibri"/>
              </a:rPr>
              <a:t>Plateaux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0082" y="1975104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40 240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5455" y="1975104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100,0 %  (50 km)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6763" y="1975104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1844" y="1975104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1C1B"/>
                </a:solidFill>
                <a:latin typeface="Calibri"/>
              </a:rPr>
              <a:t>réseau et 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213762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2235708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6161" y="2235708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Blitta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6418" y="2235708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3AA7"/>
                </a:solidFill>
                <a:latin typeface="Calibri"/>
              </a:rPr>
              <a:t>Centrale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0082" y="2235708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163 272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5455" y="2235708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68,2 %  (101 km)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6763" y="2235708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2235708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1C1B"/>
                </a:solidFill>
                <a:latin typeface="Calibri"/>
              </a:rPr>
              <a:t>réseau et 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474366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7016" y="2496312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6161" y="2496312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Agou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6418" y="2496312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B6300"/>
                </a:solidFill>
                <a:latin typeface="Calibri"/>
              </a:rPr>
              <a:t>Plateaux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0082" y="2496312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85 793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5455" y="2496312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40,0 %  (124 km)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6763" y="2496312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1844" y="2496312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1C1B"/>
                </a:solidFill>
                <a:latin typeface="Calibri"/>
              </a:rPr>
              <a:t>réseau et formation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2734970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57016" y="2756916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6161" y="2756916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Tchamba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6418" y="2756916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3AA7"/>
                </a:solidFill>
                <a:latin typeface="Calibri"/>
              </a:rPr>
              <a:t>Centrale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0082" y="2756916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200 585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85455" y="2756916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34,0 %  (120 km)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6763" y="2756916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81844" y="2756916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1C1B"/>
                </a:solidFill>
                <a:latin typeface="Calibri"/>
              </a:rPr>
              <a:t>réseau et formation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2995574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7016" y="3017520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36161" y="3017520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Bassar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6418" y="3017520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B4B0C"/>
                </a:solidFill>
                <a:latin typeface="Calibri"/>
              </a:rPr>
              <a:t>Kara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0082" y="3017520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152 065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85455" y="3017520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28,0 %  (167 km)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6763" y="3017520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1844" y="3017520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1C1B"/>
                </a:solidFill>
                <a:latin typeface="Calibri"/>
              </a:rPr>
              <a:t>réseau et formation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3256178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7016" y="3278124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6161" y="3278124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Oti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76418" y="3278124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B537D"/>
                </a:solidFill>
                <a:latin typeface="Calibri"/>
              </a:rPr>
              <a:t>Savanes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60082" y="3278124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124 848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85455" y="3278124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21,1 %  (141 km)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6763" y="3278124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81844" y="3278124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Calibri"/>
              </a:rPr>
              <a:t>formation d’abord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3516782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57016" y="3538728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6161" y="3538728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Bas-Mono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76418" y="3538728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300"/>
                </a:solidFill>
                <a:latin typeface="Calibri"/>
              </a:rPr>
              <a:t>Maritime hors Grand Lomé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60082" y="3538728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94 860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85455" y="3538728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21,1 %  (36 km)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06763" y="3538728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1844" y="3538728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Calibri"/>
              </a:rPr>
              <a:t>formation d’abord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20440" y="3777386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57016" y="3799332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36161" y="3799332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Est-Mono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76418" y="3799332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B6300"/>
                </a:solidFill>
                <a:latin typeface="Calibri"/>
              </a:rPr>
              <a:t>Plateaux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60082" y="3799332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164 460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85455" y="3799332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17,2 %  (111 km)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06763" y="3799332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1844" y="3799332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Calibri"/>
              </a:rPr>
              <a:t>formation d’abord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20440" y="4037990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57016" y="4059936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36161" y="4059936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Oti-Sud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76418" y="4059936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B537D"/>
                </a:solidFill>
                <a:latin typeface="Calibri"/>
              </a:rPr>
              <a:t>Savanes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60082" y="4059936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150 376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85455" y="4059936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14,4 %  (132 km)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06763" y="4059936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81844" y="4059936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Calibri"/>
              </a:rPr>
              <a:t>formation d’abord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20440" y="4298594"/>
            <a:ext cx="807689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557016" y="4320540"/>
            <a:ext cx="405993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155"/>
                </a:solidFill>
                <a:latin typeface="Calibri"/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36161" y="4320540"/>
            <a:ext cx="1067104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72B3A"/>
                </a:solidFill>
                <a:latin typeface="Calibri"/>
              </a:rPr>
              <a:t>Tchaoudjo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76418" y="4320540"/>
            <a:ext cx="1810512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3AA7"/>
                </a:solidFill>
                <a:latin typeface="Calibri"/>
              </a:rPr>
              <a:t>Centrale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60082" y="4320540"/>
            <a:ext cx="852220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240 360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85455" y="4320540"/>
            <a:ext cx="1248156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1126"/>
                </a:solidFill>
                <a:latin typeface="Calibri"/>
              </a:rPr>
              <a:t>36,9 %  (126 km)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06763" y="4320540"/>
            <a:ext cx="801928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B3A"/>
                </a:solidFill>
                <a:latin typeface="Calibri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81844" y="4320540"/>
            <a:ext cx="1562709" cy="22402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4700"/>
                </a:solidFill>
                <a:latin typeface="Calibri"/>
              </a:rPr>
              <a:t>réseau d’abord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29000" y="4672584"/>
            <a:ext cx="8259775" cy="768096"/>
          </a:xfrm>
          <a:prstGeom prst="roundRect">
            <a:avLst>
              <a:gd name="adj" fmla="val 14285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30168" y="4782312"/>
            <a:ext cx="78574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Constat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5 préfectures cumulent un réseau dégradé et aucune auto-école agréée — </a:t>
            </a:r>
            <a:r>
              <a:rPr sz="1050" b="1" i="0">
                <a:solidFill>
                  <a:srgbClr val="8A1C1B"/>
                </a:solidFill>
                <a:latin typeface="Calibri"/>
              </a:rPr>
              <a:t>Danyi, Blitta, Agou, Tchamba et Bassar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—, soit 641 955 habitants, 175,6 km à remettre en état et 9 auto-écoles à ouvrir.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02920" y="5577840"/>
            <a:ext cx="11185855" cy="694944"/>
          </a:xfrm>
          <a:prstGeom prst="roundRect">
            <a:avLst>
              <a:gd name="adj" fmla="val 15789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5687568"/>
            <a:ext cx="1078351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4700"/>
                </a:solidFill>
                <a:latin typeface="Calibri"/>
              </a:rPr>
              <a:t>Hors classement  ·  </a:t>
            </a:r>
            <a:r>
              <a:rPr sz="1050" b="0" i="0">
                <a:solidFill>
                  <a:srgbClr val="172B3A"/>
                </a:solidFill>
                <a:latin typeface="Calibri"/>
              </a:rPr>
              <a:t>Mô n’a aucune route classée — ni état, ni kilomètre évalué — et aucune auto-école, ni agréée ni recensée, pour 52 448 habitants, à 52,2 km de la plus proche. Elle n’entre pas dans le classement : elle est traitée à part.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07 ·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Priorité n’est pas population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85216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544982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B3A"/>
                </a:solidFill>
                <a:latin typeface="Cambria"/>
              </a:rPr>
              <a:t>Rang du classement et habitants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5449824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Une préfecture par point ; les 10 premières sur fond bleu.</a:t>
            </a:r>
          </a:p>
        </p:txBody>
      </p:sp>
      <p:pic>
        <p:nvPicPr>
          <p:cNvPr id="11" name="Picture 10" descr="arbit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97" y="2057400"/>
            <a:ext cx="5416605" cy="1673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463040"/>
            <a:ext cx="5105095" cy="1298448"/>
          </a:xfrm>
          <a:prstGeom prst="roundRect">
            <a:avLst>
              <a:gd name="adj" fmla="val 8450"/>
            </a:avLst>
          </a:prstGeom>
          <a:solidFill>
            <a:srgbClr val="E8F0FB"/>
          </a:solidFill>
          <a:ln w="9525">
            <a:solidFill>
              <a:srgbClr val="C7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572768"/>
            <a:ext cx="4702759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Ce que montre le nuage  ·  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les 10 premières comptent 1 416 859 habitants, </a:t>
            </a:r>
            <a:r>
              <a:rPr sz="1050" b="1" i="0">
                <a:solidFill>
                  <a:srgbClr val="0D366B"/>
                </a:solidFill>
                <a:latin typeface="Calibri"/>
              </a:rPr>
              <a:t>17,5 %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 du pays. </a:t>
            </a:r>
            <a:r>
              <a:rPr sz="1050" b="1" i="0">
                <a:solidFill>
                  <a:srgbClr val="8A1C1B"/>
                </a:solidFill>
                <a:latin typeface="Calibri"/>
              </a:rPr>
              <a:t>Golfe et Agoè-Nyivé</a:t>
            </a:r>
            <a:r>
              <a:rPr sz="1050" b="1" i="0">
                <a:solidFill>
                  <a:srgbClr val="172B3A"/>
                </a:solidFill>
                <a:latin typeface="Calibri"/>
              </a:rPr>
              <a:t>, les deux préfectures les plus peuplées, n’en font pas partie : Agoè-Nyivé a 3,2 km à remettre en état pour 882 695 habitants.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98064"/>
            <a:ext cx="51050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LES DEUX RÈGLES QUI TRANCHENT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035808"/>
            <a:ext cx="5105095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9984" y="314553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8A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08960"/>
            <a:ext cx="43918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La préfecture sans aucune auto-école agréée passe en premier, quelle que soit sa population.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602736"/>
            <a:ext cx="5105095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9984" y="371246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675888"/>
            <a:ext cx="43918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À score égal, la préfecture la plus peuplée passe devant.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416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LE CLASSEMENT TIENT-IL ? 5 TESTS DE ROBUSTESSE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79392"/>
            <a:ext cx="11185855" cy="256032"/>
          </a:xfrm>
          <a:prstGeom prst="roundRect">
            <a:avLst>
              <a:gd name="adj" fmla="val 21428"/>
            </a:avLst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279392"/>
            <a:ext cx="4133087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Ce que le test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4279392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Changements parmi les 10 premières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4279392"/>
            <a:ext cx="23957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Entrent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427939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Calibri"/>
              </a:rPr>
              <a:t>Sortent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4553712"/>
            <a:ext cx="4133087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Le réseau compte pour deux tiers du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4553712"/>
            <a:ext cx="184708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4553712"/>
            <a:ext cx="239572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34A"/>
                </a:solidFill>
                <a:latin typeface="Calibri"/>
              </a:rPr>
              <a:t>Kloto, Ogou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4553712"/>
            <a:ext cx="2514600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E1126"/>
                </a:solidFill>
                <a:latin typeface="Calibri"/>
              </a:rPr>
              <a:t>Est-Mono, Oti-Sud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783226"/>
            <a:ext cx="1100297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805172"/>
            <a:ext cx="4133087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La formation compte pour deux tiers du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4805172"/>
            <a:ext cx="184708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4805172"/>
            <a:ext cx="239572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34A"/>
                </a:solidFill>
                <a:latin typeface="Calibri"/>
              </a:rPr>
              <a:t>Haho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4805172"/>
            <a:ext cx="2514600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E1126"/>
                </a:solidFill>
                <a:latin typeface="Calibri"/>
              </a:rPr>
              <a:t>Tchaoudjo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034686"/>
            <a:ext cx="1100297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5056632"/>
            <a:ext cx="4133087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Écart à la médiane, au lieu du rang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6" y="5056632"/>
            <a:ext cx="184708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7416" y="5056632"/>
            <a:ext cx="239572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34A"/>
                </a:solidFill>
                <a:latin typeface="Calibri"/>
              </a:rPr>
              <a:t>Kloto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5056632"/>
            <a:ext cx="2514600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E1126"/>
                </a:solidFill>
                <a:latin typeface="Calibri"/>
              </a:rPr>
              <a:t>Oti-Sud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286146"/>
            <a:ext cx="1100297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5308092"/>
            <a:ext cx="4133087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Sans Golfe et Agoè-Nyivé, les plus peuplées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37176" y="5308092"/>
            <a:ext cx="184708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7416" y="5308092"/>
            <a:ext cx="239572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34A"/>
                </a:solidFill>
                <a:latin typeface="Calibri"/>
              </a:rPr>
              <a:t>Haho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5308092"/>
            <a:ext cx="2514600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E1126"/>
                </a:solidFill>
                <a:latin typeface="Calibri"/>
              </a:rPr>
              <a:t>Tchaoudjo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537606"/>
            <a:ext cx="11002975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5559552"/>
            <a:ext cx="4133087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Distance à l’auto-école, au lieu du nombre d’auto-écoles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37176" y="5559552"/>
            <a:ext cx="184708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7416" y="5559552"/>
            <a:ext cx="2395728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834A"/>
                </a:solidFill>
                <a:latin typeface="Calibri"/>
              </a:rPr>
              <a:t>Anié, Haho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26296" y="5559552"/>
            <a:ext cx="2514600" cy="2148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E1126"/>
                </a:solidFill>
                <a:latin typeface="Calibri"/>
              </a:rPr>
              <a:t>Est-Mono, Tchaoudjo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788152"/>
            <a:ext cx="11185855" cy="530352"/>
          </a:xfrm>
          <a:prstGeom prst="roundRect">
            <a:avLst>
              <a:gd name="adj" fmla="val 17241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" y="5843016"/>
            <a:ext cx="10710367" cy="4206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CE588"/>
                </a:solidFill>
                <a:latin typeface="Calibri"/>
              </a:rPr>
              <a:t>LE CLASSEMENT EST STABLE  ·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aucun test ne change plus de 2 des 10 premières, et 7 préfectures y restent dans les 6 tests : Danyi, Blitta, Agou, Tchamba, Bassar, Oti et Bas-Mono.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08 · PLAN D’ACTION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Par où commencer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62763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8A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36192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1B"/>
                </a:solidFill>
                <a:latin typeface="Calibri"/>
              </a:rPr>
              <a:t>Créer la base d’accidents par préfecture, et vérifier l’état relevé sur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1536192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Les accidents ne sont publiés que pour tout le pays : 7 questions restent sans réponse. La vérification de l’état conditionne tous les travaux.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0264" y="1554480"/>
            <a:ext cx="453728" cy="201168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1 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97144" y="1554480"/>
            <a:ext cx="717801" cy="201168"/>
          </a:xfrm>
          <a:prstGeom prst="roundRect">
            <a:avLst>
              <a:gd name="adj" fmla="val 50000"/>
            </a:avLst>
          </a:prstGeom>
          <a:solidFill>
            <a:srgbClr val="FB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8A1C1B"/>
                </a:solidFill>
                <a:latin typeface="Calibri"/>
              </a:rPr>
              <a:t>Préalable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792224"/>
            <a:ext cx="25722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tout le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1938528"/>
            <a:ext cx="257220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Calibri"/>
              </a:rPr>
              <a:t>Organisme chargé de la sécurité routière, producteurs des données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26564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39115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299716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D366B"/>
                </a:solidFill>
                <a:latin typeface="Calibri"/>
              </a:rPr>
              <a:t>Remettre en état le réseau des 5 préfectures qui cumulent les deux manques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2299716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175,6 km à remettre en état : Danyi, Blitta, Agou, Tchamba et Bassar. Cible : 14,35 % de kilomètres en mauvais état, la médiane nationale.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318004"/>
            <a:ext cx="513758" cy="20116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4A3AA7"/>
                </a:solidFill>
                <a:latin typeface="Calibri"/>
              </a:rPr>
              <a:t>3 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7174" y="2318004"/>
            <a:ext cx="933532" cy="201168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0D366B"/>
                </a:solidFill>
                <a:latin typeface="Calibri"/>
              </a:rPr>
              <a:t>Priorité haute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555748"/>
            <a:ext cx="25722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641 955 habitants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702052"/>
            <a:ext cx="257220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Calibri"/>
              </a:rPr>
              <a:t>Ministère des travaux publics, fonds d’entretien routier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990088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" y="31546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1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6324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613F"/>
                </a:solidFill>
                <a:latin typeface="Calibri"/>
              </a:rPr>
              <a:t>Ouvrir des auto-écoles dans les 15 préfectures qui n’en ont aucune, vérifier les 13 non agréées de 8 autres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306324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41 auto-écoles à ouvrir sur les 23 préfectures du levier formation, pour atteindre 1,065 auto-école agréée pour 100 000 habitants.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3081528"/>
            <a:ext cx="513758" cy="20116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4A3AA7"/>
                </a:solidFill>
                <a:latin typeface="Calibri"/>
              </a:rPr>
              <a:t>3 ans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7174" y="3081528"/>
            <a:ext cx="615670" cy="201168"/>
          </a:xfrm>
          <a:prstGeom prst="roundRect">
            <a:avLst>
              <a:gd name="adj" fmla="val 50000"/>
            </a:avLst>
          </a:prstGeom>
          <a:solidFill>
            <a:srgbClr val="E2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11613F"/>
                </a:solidFill>
                <a:latin typeface="Calibri"/>
              </a:rPr>
              <a:t>Priorité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0264" y="3319272"/>
            <a:ext cx="25722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2 932 492 habitants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0264" y="3465576"/>
            <a:ext cx="257220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Calibri"/>
              </a:rPr>
              <a:t>Ministère chargé des transports, auto-écoles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53612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" y="391820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B44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826764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451A"/>
                </a:solidFill>
                <a:latin typeface="Calibri"/>
              </a:rPr>
              <a:t>Cibler les usagers de deux-roues motorisés : casque, permis moto, contrôle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2" y="3826764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60 % des tués de 2021 ; porter les permis A délivrés à au moins 5 513 par 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264" y="3845052"/>
            <a:ext cx="513758" cy="20116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4A3AA7"/>
                </a:solidFill>
                <a:latin typeface="Calibri"/>
              </a:rPr>
              <a:t>3 ans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7174" y="3845052"/>
            <a:ext cx="663556" cy="201168"/>
          </a:xfrm>
          <a:prstGeom prst="roundRect">
            <a:avLst>
              <a:gd name="adj" fmla="val 50000"/>
            </a:avLst>
          </a:prstGeom>
          <a:solidFill>
            <a:srgbClr val="FD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B4451A"/>
                </a:solidFill>
                <a:latin typeface="Calibri"/>
              </a:rPr>
              <a:t>National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0264" y="4082796"/>
            <a:ext cx="25722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tout le pays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0264" y="4229100"/>
            <a:ext cx="257220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Calibri"/>
              </a:rPr>
              <a:t>Organisme chargé de la sécurité routière, police, gendarmerie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17136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7512" y="468172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590288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3AA7"/>
                </a:solidFill>
                <a:latin typeface="Calibri"/>
              </a:rPr>
              <a:t>Agir d’abord dans la Centrale, seule zone en retard sur la route et sur la formation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2" y="4590288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B3A"/>
                </a:solidFill>
                <a:latin typeface="Calibri"/>
              </a:rPr>
              <a:t>Remettre en état 113,6 km et ouvrir 6 auto-écoles en premier. Les 4 zones en difficulté sont Maritime hors Grand Lomé, Plateaux, Centrale et Savanes.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0264" y="4608576"/>
            <a:ext cx="513758" cy="20116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4A3AA7"/>
                </a:solidFill>
                <a:latin typeface="Calibri"/>
              </a:rPr>
              <a:t>3 ans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7174" y="4608576"/>
            <a:ext cx="933532" cy="201168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0D366B"/>
                </a:solidFill>
                <a:latin typeface="Calibri"/>
              </a:rPr>
              <a:t>Priorité haute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0264" y="4846320"/>
            <a:ext cx="25722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B3A"/>
                </a:solidFill>
                <a:latin typeface="Calibri"/>
              </a:rPr>
              <a:t>795 529 habitants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0264" y="4992624"/>
            <a:ext cx="257220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Calibri"/>
              </a:rPr>
              <a:t>Travaux publics et transports, conjointement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2989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Ce que la population ajoute d’ici 2031 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sans ouverture, le manque passe de 41 à 50 auto-écoles ; les 304,6 km à remettre en état ne bougent pas, c’est un retard déjà constitué ; 4,6 millions de ruraux resteront à plus de 2 km d’une route revêtue.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 recommandations au total, dont 3 en priorité haute ; les habitants ne s’additionnent pas d’une action à l’autre : les territoires se recoupent.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920740"/>
            <a:ext cx="11185855" cy="475488"/>
          </a:xfrm>
          <a:prstGeom prst="roundRect">
            <a:avLst>
              <a:gd name="adj" fmla="val 1923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5975603"/>
            <a:ext cx="10710367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CE588"/>
                </a:solidFill>
                <a:latin typeface="Calibri"/>
              </a:rPr>
              <a:t>RÈGLE D’ORDONNANCEMENT  ·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ce qui est mesuré n’attend pas (auto-écoles, contrôle, données) ; les travaux attendent la vérification sur place de l’état relevé en 2020.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oi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402336" cy="353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4984" y="182880"/>
            <a:ext cx="5669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366B"/>
                </a:solidFill>
                <a:latin typeface="Calibri"/>
              </a:rPr>
              <a:t>MOBILITÉ ET SÉCURITÉ ROUTIÈRE AU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8135" y="182880"/>
            <a:ext cx="51206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Rapport de synthèse · Mobilité et sécurité routière —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09 ·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035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B6AD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8585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B3A"/>
                </a:solidFill>
                <a:latin typeface="Cambria"/>
              </a:rPr>
              <a:t>Les quatre décisions à engager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45587" cy="1700784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8A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4027" y="1719072"/>
            <a:ext cx="891600" cy="219456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dans l’année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1C1B"/>
                </a:solidFill>
                <a:latin typeface="Cambria"/>
              </a:rPr>
              <a:t>Mesurer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2279827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les accidents par préfecture, et vérifier sur place l’état du réseau relevé en 2020.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9675" y="1463040"/>
            <a:ext cx="2645587" cy="1700784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2555" y="16459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8604" y="1719072"/>
            <a:ext cx="603778" cy="219456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à 3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2555" y="2103120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366B"/>
                </a:solidFill>
                <a:latin typeface="Cambria"/>
              </a:rPr>
              <a:t>Remettre en état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2555" y="2487168"/>
            <a:ext cx="2279827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304,6 km dans les 13 préfectures au réseau dégradé, en commençant par les 5 qui cumulent.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1463040"/>
            <a:ext cx="2645587" cy="1700784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16459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1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360" y="1719072"/>
            <a:ext cx="603778" cy="219456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à 3 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103120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613F"/>
                </a:solidFill>
                <a:latin typeface="Cambria"/>
              </a:rPr>
              <a:t>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487168"/>
            <a:ext cx="2279827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41 auto-écoles à ouvrir dans les 23 préfectures qui en manquent, le permis moto d’abord.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187" y="1463040"/>
            <a:ext cx="2645587" cy="1700784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6067" y="16459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B44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02116" y="1719072"/>
            <a:ext cx="603778" cy="219456"/>
          </a:xfrm>
          <a:prstGeom prst="roundRect">
            <a:avLst>
              <a:gd name="adj" fmla="val 50000"/>
            </a:avLst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 i="0">
                <a:solidFill>
                  <a:srgbClr val="6B4700"/>
                </a:solidFill>
                <a:latin typeface="Calibri"/>
              </a:rPr>
              <a:t>à 3 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067" y="2103120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4451A"/>
                </a:solidFill>
                <a:latin typeface="Cambria"/>
              </a:rPr>
              <a:t>Protéger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067" y="2487168"/>
            <a:ext cx="2279827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les usagers de deux-roues motorisés, 60 % des tués : casque, permis, contrôle.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01568"/>
            <a:ext cx="7040880" cy="1847088"/>
          </a:xfrm>
          <a:prstGeom prst="roundRect">
            <a:avLst>
              <a:gd name="adj" fmla="val 5940"/>
            </a:avLst>
          </a:prstGeom>
          <a:solidFill>
            <a:srgbClr val="FDF3D7"/>
          </a:solidFill>
          <a:ln w="9525">
            <a:solidFill>
              <a:srgbClr val="ECD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3529584"/>
            <a:ext cx="66019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700"/>
                </a:solidFill>
                <a:latin typeface="Calibri"/>
              </a:rPr>
              <a:t>CE QUE L’ANALYSE NE DIT PAS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803904"/>
            <a:ext cx="6601968" cy="969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•  Les accidents ne sont publiés qu’au niveau national : ni préfecture, ni mois, ni âge.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•  L’état du réseau vient d’un relevé de 2020, méthode de notation non publiée.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•  L’activité des auto-écoles n’est pas publiée : agréée ne veut pas dire active.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72B3A"/>
                </a:solidFill>
                <a:latin typeface="Calibri"/>
              </a:rPr>
              <a:t>•  Aucun coût : des volumes (kilomètres, auto-écoles, habitants), pas des budgets.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828031"/>
            <a:ext cx="6601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4700"/>
                </a:solidFill>
                <a:latin typeface="Calibri"/>
              </a:rPr>
              <a:t>L’analyse dit où agir et sur quel manque ; elle ne chiffre ni le coût des travaux, ni l’effet attendu sur les accidents.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401568"/>
            <a:ext cx="3916375" cy="1847088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529584"/>
            <a:ext cx="35140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5A00"/>
                </a:solidFill>
                <a:latin typeface="Calibri"/>
              </a:rPr>
              <a:t>EXPLORER LE DÉTAIL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3785615"/>
            <a:ext cx="35140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66B"/>
                </a:solidFill>
                <a:latin typeface="Cambria"/>
              </a:rPr>
              <a:t>Tableau de bord interactif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114800"/>
            <a:ext cx="3514039" cy="10241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Huit pages : la vue nationale, la comparaison des territoires, les évolutions et les constats, la carte du réseau et des auto-écoles, les priorités, les 15 recommandations, l’horizon 2031 et la méthode.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9824"/>
            <a:ext cx="11185855" cy="603504"/>
          </a:xfrm>
          <a:prstGeom prst="roundRect">
            <a:avLst>
              <a:gd name="adj" fmla="val 15151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5504688"/>
            <a:ext cx="10710367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« Des routes plus sûres pour une mobilité durable au Togo » — comprendre les risques, identifier les priorités d’action.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Données : portail national de données ouvertes du Togo, recensement de 2022 et sources institutionnelles complémentaires.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2615" y="64465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Togo AI Lab — Data Challenge | Mobilité et sécurité routière — Défi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